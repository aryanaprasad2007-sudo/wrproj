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A2433"/>
                </a:solidFill>
                <a:latin typeface="Arial"/>
              </a:rPr>
              <a:t>Profit factor by decade — same engine, no re-tuning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Profit factor</c:v>
                </c:pt>
              </c:strCache>
            </c:strRef>
          </c:tx>
          <c:spPr>
            <a:solidFill>
              <a:srgbClr val="02A67F"/>
            </a:solidFill>
          </c:spPr>
          <c:cat>
            <c:strRef>
              <c:f>Sheet1!$A$2:$A$4</c:f>
              <c:strCache>
                <c:ptCount val="3"/>
                <c:pt idx="0">
                  <c:v>1995–2005</c:v>
                </c:pt>
                <c:pt idx="1">
                  <c:v>2005–2015</c:v>
                </c:pt>
                <c:pt idx="2">
                  <c:v>2015–2026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1.47</c:v>
                </c:pt>
                <c:pt idx="1">
                  <c:v>2.03</c:v>
                </c:pt>
                <c:pt idx="2">
                  <c:v>2.45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 b="1">
                  <a:solidFill>
                    <a:srgbClr val="1A24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A6B85"/>
            </a:solidFill>
          </a:ln>
        </c:spPr>
        <c:txPr>
          <a:bodyPr/>
          <a:lstStyle/>
          <a:p>
            <a:pPr>
              <a:defRPr sz="1100">
                <a:solidFill>
                  <a:srgbClr val="5A6B8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0"/>
          <c:min val="0.0"/>
        </c:scaling>
        <c:delete val="0"/>
        <c:axPos val="l"/>
        <c:majorGridlines>
          <c:spPr>
            <a:ln>
              <a:solidFill>
                <a:srgbClr val="E4EAF3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4EAF3"/>
            </a:solidFill>
          </a:ln>
        </c:spPr>
        <c:txPr>
          <a:bodyPr/>
          <a:lstStyle/>
          <a:p>
            <a:pPr>
              <a:defRPr sz="1000">
                <a:solidFill>
                  <a:srgbClr val="5A6B85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596128"/>
            <a:ext cx="365760" cy="457200"/>
          </a:xfrm>
          <a:prstGeom prst="roundRect">
            <a:avLst>
              <a:gd name="adj" fmla="val 12500"/>
            </a:avLst>
          </a:prstGeom>
          <a:solidFill>
            <a:srgbClr val="1E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72768" y="5669280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322576" y="5486400"/>
            <a:ext cx="365760" cy="566928"/>
          </a:xfrm>
          <a:prstGeom prst="roundRect">
            <a:avLst>
              <a:gd name="adj" fmla="val 12500"/>
            </a:avLst>
          </a:prstGeom>
          <a:solidFill>
            <a:srgbClr val="1E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72384" y="5550408"/>
            <a:ext cx="365760" cy="502920"/>
          </a:xfrm>
          <a:prstGeom prst="roundRect">
            <a:avLst>
              <a:gd name="adj" fmla="val 12500"/>
            </a:avLst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22191" y="5340096"/>
            <a:ext cx="365760" cy="713232"/>
          </a:xfrm>
          <a:prstGeom prst="roundRect">
            <a:avLst>
              <a:gd name="adj" fmla="val 12500"/>
            </a:avLst>
          </a:prstGeom>
          <a:solidFill>
            <a:srgbClr val="1E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0" y="5413248"/>
            <a:ext cx="365760" cy="640080"/>
          </a:xfrm>
          <a:prstGeom prst="roundRect">
            <a:avLst>
              <a:gd name="adj" fmla="val 12500"/>
            </a:avLst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21808" y="5184648"/>
            <a:ext cx="365760" cy="868680"/>
          </a:xfrm>
          <a:prstGeom prst="roundRect">
            <a:avLst>
              <a:gd name="adj" fmla="val 12500"/>
            </a:avLst>
          </a:prstGeom>
          <a:solidFill>
            <a:srgbClr val="1E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71616" y="5248656"/>
            <a:ext cx="365760" cy="804672"/>
          </a:xfrm>
          <a:prstGeom prst="roundRect">
            <a:avLst>
              <a:gd name="adj" fmla="val 12500"/>
            </a:avLst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21424" y="5029200"/>
            <a:ext cx="365760" cy="1024128"/>
          </a:xfrm>
          <a:prstGeom prst="roundRect">
            <a:avLst>
              <a:gd name="adj" fmla="val 12500"/>
            </a:avLst>
          </a:prstGeom>
          <a:solidFill>
            <a:srgbClr val="1E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71231" y="5093208"/>
            <a:ext cx="365760" cy="960120"/>
          </a:xfrm>
          <a:prstGeom prst="roundRect">
            <a:avLst>
              <a:gd name="adj" fmla="val 12500"/>
            </a:avLst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0" y="4864608"/>
            <a:ext cx="365760" cy="1188720"/>
          </a:xfrm>
          <a:prstGeom prst="roundRect">
            <a:avLst>
              <a:gd name="adj" fmla="val 12500"/>
            </a:avLst>
          </a:prstGeom>
          <a:solidFill>
            <a:srgbClr val="1E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70848" y="4919472"/>
            <a:ext cx="365760" cy="1133856"/>
          </a:xfrm>
          <a:prstGeom prst="roundRect">
            <a:avLst>
              <a:gd name="adj" fmla="val 12500"/>
            </a:avLst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20656" y="4681728"/>
            <a:ext cx="365760" cy="1371600"/>
          </a:xfrm>
          <a:prstGeom prst="roundRect">
            <a:avLst>
              <a:gd name="adj" fmla="val 12500"/>
            </a:avLst>
          </a:prstGeom>
          <a:solidFill>
            <a:srgbClr val="1E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570464" y="4736592"/>
            <a:ext cx="365760" cy="1316736"/>
          </a:xfrm>
          <a:prstGeom prst="roundRect">
            <a:avLst>
              <a:gd name="adj" fmla="val 12500"/>
            </a:avLst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320272" y="4517136"/>
            <a:ext cx="365760" cy="1536192"/>
          </a:xfrm>
          <a:prstGeom prst="roundRect">
            <a:avLst>
              <a:gd name="adj" fmla="val 12500"/>
            </a:avLst>
          </a:prstGeom>
          <a:solidFill>
            <a:srgbClr val="1E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188720"/>
            <a:ext cx="11155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0" b="1" i="0">
                <a:solidFill>
                  <a:srgbClr val="FFFFFF"/>
                </a:solidFill>
                <a:latin typeface="Arial"/>
              </a:rPr>
              <a:t>iAPE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852928"/>
            <a:ext cx="9235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CADCFC"/>
                </a:solidFill>
                <a:latin typeface="Calibri"/>
              </a:rPr>
              <a:t>A retail trading stack with institutional-grade validation.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493008"/>
            <a:ext cx="9235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8FA8CF"/>
                </a:solidFill>
                <a:latin typeface="Calibri"/>
              </a:rPr>
              <a:t>TradingView Pine kit   ·   Python research harness   ·   Live automated trading machine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069080"/>
            <a:ext cx="9235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0FCF9F"/>
                </a:solidFill>
                <a:latin typeface="Calibri"/>
              </a:rPr>
              <a:t>Every number in this deck survived an attempt to kill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6263640"/>
            <a:ext cx="9235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FA8CF"/>
                </a:solidFill>
                <a:latin typeface="Calibri"/>
              </a:rPr>
              <a:t>Ari Allred   ·   July 2026   ·   Research software — not financial advice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A67F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2433"/>
                </a:solidFill>
                <a:latin typeface="Arial"/>
              </a:rPr>
              <a:t>Most retail trading signals cannot be trusted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2F6FC"/>
          </a:solidFill>
          <a:ln w="9525">
            <a:solidFill>
              <a:srgbClr val="DE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819656"/>
            <a:ext cx="384048" cy="384048"/>
          </a:xfrm>
          <a:prstGeom prst="ellipse">
            <a:avLst/>
          </a:prstGeom>
          <a:solidFill>
            <a:srgbClr val="D9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013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764792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2433"/>
                </a:solidFill>
                <a:latin typeface="Arial"/>
              </a:rPr>
              <a:t>Pretty arrows, zero P&amp;L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03120"/>
            <a:ext cx="4526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B85"/>
                </a:solidFill>
                <a:latin typeface="Calibri"/>
              </a:rPr>
              <a:t>Indicators paint signals on charts but never record outcomes. Win rate, profit factor and drawdown are simply unknown.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2F6FC"/>
          </a:solidFill>
          <a:ln w="9525">
            <a:solidFill>
              <a:srgbClr val="DE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46520" y="1819656"/>
            <a:ext cx="384048" cy="384048"/>
          </a:xfrm>
          <a:prstGeom prst="ellipse">
            <a:avLst/>
          </a:prstGeom>
          <a:solidFill>
            <a:srgbClr val="D9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013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9" y="1764792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2433"/>
                </a:solidFill>
                <a:latin typeface="Arial"/>
              </a:rPr>
              <a:t>Curve-fit backtests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59" y="2103120"/>
            <a:ext cx="4526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B85"/>
                </a:solidFill>
                <a:latin typeface="Calibri"/>
              </a:rPr>
              <a:t>Dozens of tunable inputs will fit historical noise perfectly — and fall apart the day you trade them.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004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2F6FC"/>
          </a:solidFill>
          <a:ln w="9525">
            <a:solidFill>
              <a:srgbClr val="DE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3419856"/>
            <a:ext cx="384048" cy="384048"/>
          </a:xfrm>
          <a:prstGeom prst="ellipse">
            <a:avLst/>
          </a:prstGeom>
          <a:solidFill>
            <a:srgbClr val="D9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015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364992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2433"/>
                </a:solidFill>
                <a:latin typeface="Arial"/>
              </a:rPr>
              <a:t>In-sample “edges”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703320"/>
            <a:ext cx="4526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B85"/>
                </a:solidFill>
                <a:latin typeface="Calibri"/>
              </a:rPr>
              <a:t>A strategy that shines on the data it was built on is a hypothesis, not a result. Almost nobody tests out-of-sample.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2004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2F6FC"/>
          </a:solidFill>
          <a:ln w="9525">
            <a:solidFill>
              <a:srgbClr val="DE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3419856"/>
            <a:ext cx="384048" cy="384048"/>
          </a:xfrm>
          <a:prstGeom prst="ellipse">
            <a:avLst/>
          </a:prstGeom>
          <a:solidFill>
            <a:srgbClr val="D9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015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59" y="3364992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2433"/>
                </a:solidFill>
                <a:latin typeface="Arial"/>
              </a:rPr>
              <a:t>Win-rate theater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59" y="3703320"/>
            <a:ext cx="4526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B85"/>
                </a:solidFill>
                <a:latin typeface="Calibri"/>
              </a:rPr>
              <a:t>High win rates sell subscriptions. They also hide small wins and huge losses. The metric that matters is expectancy.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983480"/>
            <a:ext cx="11155680" cy="1051560"/>
          </a:xfrm>
          <a:prstGeom prst="roundRect">
            <a:avLst>
              <a:gd name="adj" fmla="val 6956"/>
            </a:avLst>
          </a:prstGeom>
          <a:solidFill>
            <a:srgbClr val="0E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983480"/>
            <a:ext cx="104241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We know — we tested our own original formula first.  </a:t>
            </a:r>
            <a:r>
              <a:rPr sz="1250" b="0" i="0">
                <a:solidFill>
                  <a:srgbClr val="CADCFC"/>
                </a:solidFill>
                <a:latin typeface="Calibri"/>
              </a:rPr>
              <a:t>The initial 5-minute strategy graded out at profit factor 0.93: no edge. iAPE exists because we kept the discipline and rebuilt from evidence.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6B85"/>
                </a:solidFill>
                <a:latin typeface="Calibri"/>
              </a:rPr>
              <a:t>iAPE  ·  July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A6B85"/>
                </a:solidFill>
                <a:latin typeface="Calibri"/>
              </a:rPr>
              <a:t>Research software — not financial advice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6B85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A67F"/>
                </a:solidFill>
                <a:latin typeface="Arial"/>
              </a:rPr>
              <a:t>THE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2433"/>
                </a:solidFill>
                <a:latin typeface="Arial"/>
              </a:rPr>
              <a:t>Chart eyes propose. The harness disposes.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2651760" cy="2651760"/>
          </a:xfrm>
          <a:prstGeom prst="roundRect">
            <a:avLst>
              <a:gd name="adj" fmla="val 2758"/>
            </a:avLst>
          </a:prstGeom>
          <a:solidFill>
            <a:srgbClr val="F2F6FC"/>
          </a:solidFill>
          <a:ln w="9525">
            <a:solidFill>
              <a:srgbClr val="DE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02A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2433"/>
                </a:solidFill>
                <a:latin typeface="Arial"/>
              </a:rPr>
              <a:t>Pre-register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52928"/>
            <a:ext cx="22402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Calibri"/>
              </a:rPr>
              <a:t>Hypothesis, dataset and pass/fail bar are written down before the test runs. No moving goalposts.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0672" y="2743200"/>
            <a:ext cx="347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2A67F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1" y="1691640"/>
            <a:ext cx="2651760" cy="2651760"/>
          </a:xfrm>
          <a:prstGeom prst="roundRect">
            <a:avLst>
              <a:gd name="adj" fmla="val 2758"/>
            </a:avLst>
          </a:prstGeom>
          <a:solidFill>
            <a:srgbClr val="F2F6FC"/>
          </a:solidFill>
          <a:ln w="9525">
            <a:solidFill>
              <a:srgbClr val="DE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93591" y="1920240"/>
            <a:ext cx="457200" cy="457200"/>
          </a:xfrm>
          <a:prstGeom prst="ellipse">
            <a:avLst/>
          </a:prstGeom>
          <a:solidFill>
            <a:srgbClr val="02A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1" y="1901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1" y="25146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2433"/>
                </a:solidFill>
                <a:latin typeface="Arial"/>
              </a:rPr>
              <a:t>Split &amp; 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1" y="2852928"/>
            <a:ext cx="22402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Calibri"/>
              </a:rPr>
              <a:t>Derive on one half of the data, validate on the other. What only works in-sample gets buried.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2744" y="2743200"/>
            <a:ext cx="347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2A67F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1691640"/>
            <a:ext cx="2651760" cy="2651760"/>
          </a:xfrm>
          <a:prstGeom prst="roundRect">
            <a:avLst>
              <a:gd name="adj" fmla="val 2758"/>
            </a:avLst>
          </a:prstGeom>
          <a:solidFill>
            <a:srgbClr val="F2F6FC"/>
          </a:solidFill>
          <a:ln w="9525">
            <a:solidFill>
              <a:srgbClr val="DE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55664" y="1920240"/>
            <a:ext cx="457200" cy="457200"/>
          </a:xfrm>
          <a:prstGeom prst="ellipse">
            <a:avLst/>
          </a:prstGeom>
          <a:solidFill>
            <a:srgbClr val="02A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1901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5146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2433"/>
                </a:solidFill>
                <a:latin typeface="Arial"/>
              </a:rPr>
              <a:t>Verdict &amp; ledger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852928"/>
            <a:ext cx="22402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Calibri"/>
              </a:rPr>
              <a:t>Every result — adopted or buried — goes in a permanent evidence ledger. Failures are kept, not deleted.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14816" y="2743200"/>
            <a:ext cx="347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2A67F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1691640"/>
            <a:ext cx="2651760" cy="2651760"/>
          </a:xfrm>
          <a:prstGeom prst="roundRect">
            <a:avLst>
              <a:gd name="adj" fmla="val 2758"/>
            </a:avLst>
          </a:prstGeom>
          <a:solidFill>
            <a:srgbClr val="F2F6FC"/>
          </a:solidFill>
          <a:ln w="9525">
            <a:solidFill>
              <a:srgbClr val="DE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17736" y="1920240"/>
            <a:ext cx="457200" cy="457200"/>
          </a:xfrm>
          <a:prstGeom prst="ellipse">
            <a:avLst/>
          </a:prstGeom>
          <a:solidFill>
            <a:srgbClr val="02A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17736" y="1901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25146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2433"/>
                </a:solidFill>
                <a:latin typeface="Arial"/>
              </a:rPr>
              <a:t>Live audition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7736" y="2852928"/>
            <a:ext cx="22402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Calibri"/>
              </a:rPr>
              <a:t>Survivors paper-trade live against a pre-registered benchmark. Only ≥30 closed trades at benchmark can graduate.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709160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2A67F"/>
                </a:solidFill>
                <a:latin typeface="Arial"/>
              </a:rPr>
              <a:t>25+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828032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Calibri"/>
              </a:rPr>
              <a:t>pre-registered studies since July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709160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2A67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4828032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Calibri"/>
              </a:rPr>
              <a:t>data “wells” with hard test budgets — retired when spent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709160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2A67F"/>
                </a:solidFill>
                <a:latin typeface="Arial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4828032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Calibri"/>
              </a:rPr>
              <a:t>rule above all: nothing trades real money without passing its audition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6B85"/>
                </a:solidFill>
                <a:latin typeface="Calibri"/>
              </a:rPr>
              <a:t>iAPE  ·  July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647395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A6B85"/>
                </a:solidFill>
                <a:latin typeface="Calibri"/>
              </a:rPr>
              <a:t>Research software — not financial advice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6B85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A67F"/>
                </a:solidFill>
                <a:latin typeface="Arial"/>
              </a:rPr>
              <a:t>FLAGSHIP ENGINE — IAPE-D DAILY MOMENTUM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2433"/>
                </a:solidFill>
                <a:latin typeface="Arial"/>
              </a:rPr>
              <a:t>31 years of data. All 22 symbols profitable.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2A67F"/>
                </a:solidFill>
                <a:latin typeface="Arial"/>
              </a:rPr>
              <a:t>1.96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97480" y="1719072"/>
            <a:ext cx="2788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B85"/>
                </a:solidFill>
                <a:latin typeface="Calibri"/>
              </a:rPr>
              <a:t>profit factor, 1995–2026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33472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2433"/>
                </a:solidFill>
                <a:latin typeface="Arial"/>
              </a:rPr>
              <a:t>1,090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2706624"/>
            <a:ext cx="2788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B85"/>
                </a:solidFill>
                <a:latin typeface="Calibri"/>
              </a:rPr>
              <a:t>trades across 22 symbols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21024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2433"/>
                </a:solidFill>
                <a:latin typeface="Arial"/>
              </a:rPr>
              <a:t>22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3694176"/>
            <a:ext cx="2788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B85"/>
                </a:solidFill>
                <a:latin typeface="Calibri"/>
              </a:rPr>
              <a:t>symbols profitable — including era-losers GE, IBM, INTC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08576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2433"/>
                </a:solidFill>
                <a:latin typeface="Arial"/>
              </a:rPr>
              <a:t>+0.43R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4681728"/>
            <a:ext cx="2788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B85"/>
                </a:solidFill>
                <a:latin typeface="Calibri"/>
              </a:rPr>
              <a:t>average expectancy per trade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760720" y="1691640"/>
          <a:ext cx="589788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760720" y="5138928"/>
            <a:ext cx="5897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B85"/>
                </a:solidFill>
                <a:latin typeface="Calibri"/>
              </a:rPr>
              <a:t>Profit factor above 1.00 = profitable. Survived the dot-com bust, 2008, COVID and 2022.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2433"/>
                </a:solidFill>
                <a:latin typeface="Arial"/>
              </a:rPr>
              <a:t>Read the fine print:  </a:t>
            </a:r>
            <a:r>
              <a:rPr sz="1150" b="0" i="0">
                <a:solidFill>
                  <a:srgbClr val="5A6B85"/>
                </a:solidFill>
                <a:latin typeface="Calibri"/>
              </a:rPr>
              <a:t>long-history universe excludes delisted names; overnight gap risk measured separately (≈0.06 PF, study passed); live forward audition in progress — this is a validated backtest, not a track record.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6B85"/>
                </a:solidFill>
                <a:latin typeface="Calibri"/>
              </a:rPr>
              <a:t>iAPE  ·  July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47395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A6B85"/>
                </a:solidFill>
                <a:latin typeface="Calibri"/>
              </a:rPr>
              <a:t>Research software — not financial advice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6B85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A67F"/>
                </a:solidFill>
                <a:latin typeface="Arial"/>
              </a:rPr>
              <a:t>TWO ENGINES, ONE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2433"/>
                </a:solidFill>
                <a:latin typeface="Arial"/>
              </a:rPr>
              <a:t>Momentum wins big. Mean reversion wins often.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4592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F2F6FC"/>
          </a:solidFill>
          <a:ln w="9525">
            <a:solidFill>
              <a:srgbClr val="DE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2433"/>
                </a:solidFill>
                <a:latin typeface="Arial"/>
              </a:rPr>
              <a:t>MR-1  —  daily mean reversion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76272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B85"/>
                </a:solidFill>
                <a:latin typeface="Calibri"/>
              </a:rPr>
              <a:t>Buys short-term panic in long-term uptrends. Validated on the first pre-registered attempt — no tuning iterations.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2A67F"/>
                </a:solidFill>
                <a:latin typeface="Arial"/>
              </a:rPr>
              <a:t>1.36 / 1.22 / 1.21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2926079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Calibri"/>
              </a:rPr>
              <a:t>profit factor by decade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3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2A67F"/>
                </a:solidFill>
                <a:latin typeface="Arial"/>
              </a:rPr>
              <a:t>66%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566159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Calibri"/>
              </a:rPr>
              <a:t>win rate · 5.5-session average 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2A67F"/>
                </a:solidFill>
                <a:latin typeface="Arial"/>
              </a:rPr>
              <a:t>2,809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420624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Calibri"/>
              </a:rPr>
              <a:t>trades · 18 of 22 symbols profitable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0E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Why run both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489204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48"/>
              </a:spcAft>
            </a:pPr>
            <a:r>
              <a:rPr sz="1200" b="1" i="0">
                <a:solidFill>
                  <a:srgbClr val="0FCF9F"/>
                </a:solidFill>
                <a:latin typeface="Calibri"/>
              </a:rPr>
              <a:t>Different fingerprints. </a:t>
            </a:r>
            <a:r>
              <a:rPr sz="1200" b="0" i="0">
                <a:solidFill>
                  <a:srgbClr val="CADCFC"/>
                </a:solidFill>
                <a:latin typeface="Calibri"/>
              </a:rPr>
              <a:t>Momentum wins ~45% of trades with fat-tail winners; MR wins 66% with small, quick trades — and MR is strongest exactly where momentum dies.</a:t>
            </a:r>
          </a:p>
          <a:p>
            <a:pPr algn="l">
              <a:spcAft>
                <a:spcPts val="648"/>
              </a:spcAft>
            </a:pPr>
            <a:r>
              <a:rPr sz="1200" b="1" i="0">
                <a:solidFill>
                  <a:srgbClr val="0FCF9F"/>
                </a:solidFill>
                <a:latin typeface="Calibri"/>
              </a:rPr>
              <a:t>Measured, not assumed. </a:t>
            </a:r>
            <a:r>
              <a:rPr sz="1200" b="0" i="0">
                <a:solidFill>
                  <a:srgbClr val="CADCFC"/>
                </a:solidFill>
                <a:latin typeface="Calibri"/>
              </a:rPr>
              <a:t>The 50/50 combination beats either engine alone on risk-adjusted return (MAR 0.30 vs 0.27 / 0.18).</a:t>
            </a:r>
          </a:p>
          <a:p>
            <a:pPr algn="l">
              <a:spcAft>
                <a:spcPts val="648"/>
              </a:spcAft>
            </a:pPr>
            <a:r>
              <a:rPr sz="1200" b="1" i="0">
                <a:solidFill>
                  <a:srgbClr val="0FCF9F"/>
                </a:solidFill>
                <a:latin typeface="Calibri"/>
              </a:rPr>
              <a:t>Regime switching, under audition. </a:t>
            </a:r>
            <a:r>
              <a:rPr sz="1200" b="0" i="0">
                <a:solidFill>
                  <a:srgbClr val="CADCFC"/>
                </a:solidFill>
                <a:latin typeface="Calibri"/>
              </a:rPr>
              <a:t>Switching engines by market regime beat parallel by +60% MAR in-sample — promising enough to shadow-test live, not enough to trade yet.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2120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433"/>
                </a:solidFill>
                <a:latin typeface="Arial"/>
              </a:rPr>
              <a:t>Combined validated evidence base:  </a:t>
            </a:r>
            <a:r>
              <a:rPr sz="1300" b="0" i="0">
                <a:solidFill>
                  <a:srgbClr val="5A6B85"/>
                </a:solidFill>
                <a:latin typeface="Calibri"/>
              </a:rPr>
              <a:t>3,899 historical trades across two independent engines, every test pre-registered.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6B85"/>
                </a:solidFill>
                <a:latin typeface="Calibri"/>
              </a:rPr>
              <a:t>iAPE  ·  July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47395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A6B85"/>
                </a:solidFill>
                <a:latin typeface="Calibri"/>
              </a:rPr>
              <a:t>Research software — not financial advice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6B85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CF9F"/>
                </a:solidFill>
                <a:latin typeface="Arial"/>
              </a:rPr>
              <a:t>THE GRAVEYARD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What we tried to ship — and buried instead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737360"/>
            <a:ext cx="329184" cy="329184"/>
          </a:xfrm>
          <a:prstGeom prst="ellipse">
            <a:avLst/>
          </a:prstGeom>
          <a:solidFill>
            <a:srgbClr val="D9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664207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5-minute intraday “edge”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956816"/>
            <a:ext cx="46177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A8CF"/>
                </a:solidFill>
                <a:latin typeface="Calibri"/>
              </a:rPr>
              <a:t>Profit factor ~2 in-sample → negative out-of-sample. It was the market regime, not the formula. Demoted to a live experiment.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1737360"/>
            <a:ext cx="329184" cy="329184"/>
          </a:xfrm>
          <a:prstGeom prst="ellipse">
            <a:avLst/>
          </a:prstGeom>
          <a:solidFill>
            <a:srgbClr val="D9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1907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6288" y="1664207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Crypto port of the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6288" y="1956816"/>
            <a:ext cx="46177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A8CF"/>
                </a:solidFill>
                <a:latin typeface="Calibri"/>
              </a:rPr>
              <a:t>1,854 trades at realistic fees: profit factor 0.67. The edge is equity-specific — and we say so.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8036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063240"/>
            <a:ext cx="329184" cy="329184"/>
          </a:xfrm>
          <a:prstGeom prst="ellipse">
            <a:avLst/>
          </a:prstGeom>
          <a:solidFill>
            <a:srgbClr val="D9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04495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299008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OHLCV regime gates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3282696"/>
            <a:ext cx="46177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A8CF"/>
                </a:solidFill>
                <a:latin typeface="Calibri"/>
              </a:rPr>
              <a:t>The filter that looked protective in half one made things worse in half two. Sign flipped — buried.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88036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3063240"/>
            <a:ext cx="329184" cy="329184"/>
          </a:xfrm>
          <a:prstGeom prst="ellipse">
            <a:avLst/>
          </a:prstGeom>
          <a:solidFill>
            <a:srgbClr val="D9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04495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299008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63 of 64 exit designs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3282696"/>
            <a:ext cx="46177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A8CF"/>
                </a:solidFill>
                <a:latin typeface="Calibri"/>
              </a:rPr>
              <a:t>Partial profits, breakeven stops, trend exits — every “protective” exit clipped the winners that pay for the system. Survivor: pure stop + 3R target.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20624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4389120"/>
            <a:ext cx="329184" cy="329184"/>
          </a:xfrm>
          <a:prstGeom prst="ellipse">
            <a:avLst/>
          </a:prstGeom>
          <a:solidFill>
            <a:srgbClr val="D9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37083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1288" y="431596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18 money-management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1288" y="4608576"/>
            <a:ext cx="46177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A8CF"/>
                </a:solidFill>
                <a:latin typeface="Calibri"/>
              </a:rPr>
              <a:t>Not one beat flat position sizing out-of-sample. Complexity earned nothing.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20624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00800" y="4389120"/>
            <a:ext cx="329184" cy="329184"/>
          </a:xfrm>
          <a:prstGeom prst="ellipse">
            <a:avLst/>
          </a:prstGeom>
          <a:solidFill>
            <a:srgbClr val="D9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37083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431596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“Comfort” high-win-rate mode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6288" y="4608576"/>
            <a:ext cx="46177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A8CF"/>
                </a:solidFill>
                <a:latin typeface="Calibri"/>
              </a:rPr>
              <a:t>More green checkmarks, measurably −$5k. Win rate is a dial, not an edge — we ship the honest setting.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6692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CF9F"/>
                </a:solidFill>
                <a:latin typeface="Arial"/>
              </a:rPr>
              <a:t>✓  </a:t>
            </a:r>
            <a:r>
              <a:rPr sz="1300" b="0" i="0">
                <a:solidFill>
                  <a:srgbClr val="CADCFC"/>
                </a:solidFill>
                <a:latin typeface="Calibri"/>
              </a:rPr>
              <a:t>A system you can trust is defined by what it refused to keep. The full burial ledger ships with the product.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FA8CF"/>
                </a:solidFill>
                <a:latin typeface="Calibri"/>
              </a:rPr>
              <a:t>iAPE  ·  July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647395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8FA8CF"/>
                </a:solidFill>
                <a:latin typeface="Calibri"/>
              </a:rPr>
              <a:t>Research software — not financial advice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FA8CF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A67F"/>
                </a:solidFill>
                <a:latin typeface="Arial"/>
              </a:rPr>
              <a:t>NOT JUST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2433"/>
                </a:solidFill>
                <a:latin typeface="Arial"/>
              </a:rPr>
              <a:t>A machine that runs itself — and referees itself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5440680" cy="1874519"/>
          </a:xfrm>
          <a:prstGeom prst="roundRect">
            <a:avLst>
              <a:gd name="adj" fmla="val 3902"/>
            </a:avLst>
          </a:prstGeom>
          <a:solidFill>
            <a:srgbClr val="F2F6FC"/>
          </a:solidFill>
          <a:ln w="9525">
            <a:solidFill>
              <a:srgbClr val="DE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801368"/>
            <a:ext cx="420624" cy="420624"/>
          </a:xfrm>
          <a:prstGeom prst="ellipse">
            <a:avLst/>
          </a:prstGeom>
          <a:solidFill>
            <a:srgbClr val="0E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1801368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2433"/>
                </a:solidFill>
                <a:latin typeface="Arial"/>
              </a:rPr>
              <a:t>Signals on the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2148840"/>
            <a:ext cx="4434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Calibri"/>
              </a:rPr>
              <a:t>Four TradingView Pine v6 scripts: iAPE_v4 (engine), iAPE_MR, iAPE_XRAY (per-gate diagnostics), iAPE_Backflow (order-flow proxy). The Python engine matches the TradingView tester within $1 on the largest win — parity proven, not assumed.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440680" cy="1874519"/>
          </a:xfrm>
          <a:prstGeom prst="roundRect">
            <a:avLst>
              <a:gd name="adj" fmla="val 3902"/>
            </a:avLst>
          </a:prstGeom>
          <a:solidFill>
            <a:srgbClr val="F2F6FC"/>
          </a:solidFill>
          <a:ln w="9525">
            <a:solidFill>
              <a:srgbClr val="DE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46520" y="1801368"/>
            <a:ext cx="420624" cy="420624"/>
          </a:xfrm>
          <a:prstGeom prst="ellipse">
            <a:avLst/>
          </a:prstGeom>
          <a:solidFill>
            <a:srgbClr val="0E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8308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801368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2433"/>
                </a:solidFill>
                <a:latin typeface="Arial"/>
              </a:rPr>
              <a:t>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2592" y="2148840"/>
            <a:ext cx="4434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Calibri"/>
              </a:rPr>
              <a:t>10 self-waking scheduled tasks: live paper-trading across three strategy tracks, daily signal scans, options and order-flow data collection, an AI news scanner, and a nightly cockpit rebuild.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57600"/>
            <a:ext cx="5440680" cy="1874519"/>
          </a:xfrm>
          <a:prstGeom prst="roundRect">
            <a:avLst>
              <a:gd name="adj" fmla="val 3902"/>
            </a:avLst>
          </a:prstGeom>
          <a:solidFill>
            <a:srgbClr val="F2F6FC"/>
          </a:solidFill>
          <a:ln w="9525">
            <a:solidFill>
              <a:srgbClr val="DE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3858768"/>
            <a:ext cx="420624" cy="420624"/>
          </a:xfrm>
          <a:prstGeom prst="ellipse">
            <a:avLst/>
          </a:prstGeom>
          <a:solidFill>
            <a:srgbClr val="0E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7592" y="3858768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2433"/>
                </a:solidFill>
                <a:latin typeface="Arial"/>
              </a:rPr>
              <a:t>Control room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4206240"/>
            <a:ext cx="4434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Calibri"/>
              </a:rPr>
              <a:t>Local dashboard with live positions, watchlist scanner, plain-English status and bot settings — plus a kill switch, a dead-man observer, and execution gated OFF by default.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657600"/>
            <a:ext cx="5440680" cy="1874519"/>
          </a:xfrm>
          <a:prstGeom prst="roundRect">
            <a:avLst>
              <a:gd name="adj" fmla="val 3902"/>
            </a:avLst>
          </a:prstGeom>
          <a:solidFill>
            <a:srgbClr val="F2F6FC"/>
          </a:solidFill>
          <a:ln w="9525">
            <a:solidFill>
              <a:srgbClr val="DE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3858768"/>
            <a:ext cx="420624" cy="420624"/>
          </a:xfrm>
          <a:prstGeom prst="ellipse">
            <a:avLst/>
          </a:prstGeom>
          <a:solidFill>
            <a:srgbClr val="0E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84048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3858768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2433"/>
                </a:solidFill>
                <a:latin typeface="Arial"/>
              </a:rPr>
              <a:t>The referee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4206240"/>
            <a:ext cx="4434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Calibri"/>
              </a:rPr>
              <a:t>Every Friday the system grades itself against benchmarks registered before launch — win rate, profit factor, slippage, gap-through-stop — with Monte Carlo context so variance isn't mistaken for verdicts.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80644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A6B85"/>
                </a:solidFill>
                <a:latin typeface="Calibri"/>
              </a:rPr>
              <a:t>Runs on a home PC against broker paper accounts (Alpaca data, Webull venue). 50+ Python modules, all evidence and code auditable.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6B85"/>
                </a:solidFill>
                <a:latin typeface="Calibri"/>
              </a:rPr>
              <a:t>iAPE  ·  July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A6B85"/>
                </a:solidFill>
                <a:latin typeface="Calibri"/>
              </a:rPr>
              <a:t>Research software — not financial advice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6B85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A67F"/>
                </a:solidFill>
                <a:latin typeface="Arial"/>
              </a:rPr>
              <a:t>RISK &amp;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2433"/>
                </a:solidFill>
                <a:latin typeface="Arial"/>
              </a:rPr>
              <a:t>The rules are enforced by software, not willpower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1673352"/>
            <a:ext cx="402336" cy="402336"/>
          </a:xfrm>
          <a:prstGeom prst="ellipse">
            <a:avLst/>
          </a:prstGeom>
          <a:solidFill>
            <a:srgbClr val="02A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5506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600200"/>
            <a:ext cx="32918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2433"/>
                </a:solidFill>
                <a:latin typeface="Arial"/>
              </a:rPr>
              <a:t>≥30 closed trades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600200"/>
            <a:ext cx="7086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B85"/>
                </a:solidFill>
                <a:latin typeface="Calibri"/>
              </a:rPr>
              <a:t>Nothing touches real money until it completes a live paper audition at its pre-registered benchmark. No exceptions — the gate has already been held under pressure.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752344"/>
            <a:ext cx="402336" cy="402336"/>
          </a:xfrm>
          <a:prstGeom prst="ellipse">
            <a:avLst/>
          </a:prstGeom>
          <a:solidFill>
            <a:srgbClr val="02A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3405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79191"/>
            <a:ext cx="32918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2433"/>
                </a:solidFill>
                <a:latin typeface="Arial"/>
              </a:rPr>
              <a:t>Variance envelope, pre-computed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79191"/>
            <a:ext cx="7086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B85"/>
                </a:solidFill>
                <a:latin typeface="Calibri"/>
              </a:rPr>
              <a:t>10,000-run Monte Carlo: losing streaks up to 12 are normal; 17.5% of six-week windows lose even when the system works. Panic thresholds were set before going live, so drawdowns get measured — not improvised on.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831335"/>
            <a:ext cx="402336" cy="402336"/>
          </a:xfrm>
          <a:prstGeom prst="ellipse">
            <a:avLst/>
          </a:prstGeom>
          <a:solidFill>
            <a:srgbClr val="02A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81304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758183"/>
            <a:ext cx="32918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2433"/>
                </a:solidFill>
                <a:latin typeface="Arial"/>
              </a:rPr>
              <a:t>Known costs, measured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758183"/>
            <a:ext cx="7086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B85"/>
                </a:solidFill>
                <a:latin typeface="Calibri"/>
              </a:rPr>
              <a:t>Overnight gap risk: quantified (≈0.06–0.08 PF tax; study passed). Slippage: tracked live against the backtest assumption every week.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4910328"/>
            <a:ext cx="402336" cy="402336"/>
          </a:xfrm>
          <a:prstGeom prst="ellipse">
            <a:avLst/>
          </a:prstGeom>
          <a:solidFill>
            <a:srgbClr val="02A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89204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837176"/>
            <a:ext cx="32918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2433"/>
                </a:solidFill>
                <a:latin typeface="Arial"/>
              </a:rPr>
              <a:t>Hard off-switches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837176"/>
            <a:ext cx="7086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B85"/>
                </a:solidFill>
                <a:latin typeface="Calibri"/>
              </a:rPr>
              <a:t>A one-click kill switch flattens everything and halts entries. A dead-man observer blocks new entries if the operator goes dark. Real-money order paths require typed human confirmation — automation physically cannot fire them.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6B85"/>
                </a:solidFill>
                <a:latin typeface="Calibri"/>
              </a:rPr>
              <a:t>iAPE  ·  July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647395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A6B85"/>
                </a:solidFill>
                <a:latin typeface="Calibri"/>
              </a:rPr>
              <a:t>Research software — not financial advice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6B85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A67F"/>
                </a:solidFill>
                <a:latin typeface="Arial"/>
              </a:rPr>
              <a:t>WHERE IT STANDS — JULY 18,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2433"/>
                </a:solidFill>
                <a:latin typeface="Arial"/>
              </a:rPr>
              <a:t>Backtest-validated. Live auditions in progress.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2F6FC"/>
          </a:solidFill>
          <a:ln w="9525">
            <a:solidFill>
              <a:srgbClr val="DE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74650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A2433"/>
                </a:solidFill>
                <a:latin typeface="Arial"/>
              </a:rPr>
              <a:t>Daily flagship (iAPE-D)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728216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02A67F"/>
                </a:solidFill>
                <a:latin typeface="Arial"/>
              </a:rPr>
              <a:t>0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112264"/>
            <a:ext cx="49377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6B85"/>
                </a:solidFill>
                <a:latin typeface="Calibri"/>
              </a:rPr>
              <a:t>Live paper orders since Jul 6. Three signals queued, two filled (UNH, JPM — open). At ~0.4 trades/week the audition is built to take months. That is the point.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2F6FC"/>
          </a:solidFill>
          <a:ln w="9525">
            <a:solidFill>
              <a:srgbClr val="DE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74650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A2433"/>
                </a:solidFill>
                <a:latin typeface="Arial"/>
              </a:rPr>
              <a:t>Mean reversion (MR-1)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1728216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02A67F"/>
                </a:solidFill>
                <a:latin typeface="Arial"/>
              </a:rPr>
              <a:t>0 / 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112264"/>
            <a:ext cx="49377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6B85"/>
                </a:solidFill>
                <a:latin typeface="Calibri"/>
              </a:rPr>
              <a:t>Shadow audition since Jul 6 — signals tracked at live prices, no orders. Four open shadow positions (GE, INTC, DE, CAT).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47288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2F6FC"/>
          </a:solidFill>
          <a:ln w="9525">
            <a:solidFill>
              <a:srgbClr val="DE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59359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A2433"/>
                </a:solidFill>
                <a:latin typeface="Arial"/>
              </a:rPr>
              <a:t>Intraday 5-minute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575304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02A67F"/>
                </a:solidFill>
                <a:latin typeface="Arial"/>
              </a:rPr>
              <a:t>1 /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959352"/>
            <a:ext cx="49377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6B85"/>
                </a:solidFill>
                <a:latin typeface="Calibri"/>
              </a:rPr>
              <a:t>First live trade Jul 14 (NVDA — stopped out). Running as an experiment; its out-of-sample record says demote, and it stays demoted unless the audition argues otherwise.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447288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2F6FC"/>
          </a:solidFill>
          <a:ln w="9525">
            <a:solidFill>
              <a:srgbClr val="DE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359359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A2433"/>
                </a:solidFill>
                <a:latin typeface="Arial"/>
              </a:rPr>
              <a:t>Regime switch 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3575304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02A67F"/>
                </a:solidFill>
                <a:latin typeface="Arial"/>
              </a:rPr>
              <a:t>5 / 126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959352"/>
            <a:ext cx="49377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6B85"/>
                </a:solidFill>
                <a:latin typeface="Calibri"/>
              </a:rPr>
              <a:t>Shadow of the switch-vs-parallel winner, judged at 126 sessions. Adoption gated behind both engines' auditions.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440680"/>
            <a:ext cx="11155680" cy="822960"/>
          </a:xfrm>
          <a:prstGeom prst="roundRect">
            <a:avLst>
              <a:gd name="adj" fmla="val 8888"/>
            </a:avLst>
          </a:prstGeom>
          <a:solidFill>
            <a:srgbClr val="0E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440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CF9F"/>
                </a:solidFill>
                <a:latin typeface="Arial"/>
              </a:rPr>
              <a:t>Next:  </a:t>
            </a:r>
            <a:r>
              <a:rPr sz="1200" b="0" i="0">
                <a:solidFill>
                  <a:srgbClr val="CADCFC"/>
                </a:solidFill>
                <a:latin typeface="Calibri"/>
              </a:rPr>
              <a:t>auditions run to ≥30 trades → graduation per engine → small real book with human-confirmed sizing. Proprietary options-flow and order-flow datasets (collected daily since July) mature in September and get tested as new edges — pre-registered, like everything else.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6B85"/>
                </a:solidFill>
                <a:latin typeface="Calibri"/>
              </a:rPr>
              <a:t>iAPE  ·  July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47395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A6B85"/>
                </a:solidFill>
                <a:latin typeface="Calibri"/>
              </a:rPr>
              <a:t>Research software — not financial advice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6B85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Test it. Don’t trust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148840"/>
            <a:ext cx="8503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CADCFC"/>
                </a:solidFill>
                <a:latin typeface="Calibri"/>
              </a:rPr>
              <a:t>iAPE turns trading ideas into things you can measure, isolate and falsify — then it holds itself to the same standard, live, every week.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24612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42900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0FCF9F"/>
                </a:solidFill>
                <a:latin typeface="Arial"/>
              </a:rPr>
              <a:t>1.96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8FA8CF"/>
                </a:solidFill>
                <a:latin typeface="Calibri"/>
              </a:rPr>
              <a:t>profit factor over 31 years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324612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342900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0FCF9F"/>
                </a:solidFill>
                <a:latin typeface="Arial"/>
              </a:rPr>
              <a:t>22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411480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8FA8CF"/>
                </a:solidFill>
                <a:latin typeface="Calibri"/>
              </a:rPr>
              <a:t>symbols profitable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79" y="324612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342900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0FCF9F"/>
                </a:solidFill>
                <a:latin typeface="Arial"/>
              </a:rPr>
              <a:t>3,899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11480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8FA8CF"/>
                </a:solidFill>
                <a:latin typeface="Calibri"/>
              </a:rPr>
              <a:t>validated historical trades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3999" y="324612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16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3999" y="342900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0FCF9F"/>
                </a:solidFill>
                <a:latin typeface="Arial"/>
              </a:rPr>
              <a:t>25+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59" y="411480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8FA8CF"/>
                </a:solidFill>
                <a:latin typeface="Calibri"/>
              </a:rPr>
              <a:t>pre-registered studies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07492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0FCF9F"/>
                </a:solidFill>
                <a:latin typeface="Calibri"/>
              </a:rPr>
              <a:t>Every number survived an attempt to kill it — and the burials ship with the product.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897880"/>
            <a:ext cx="8503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  <a:latin typeface="Calibri"/>
              </a:rPr>
              <a:t>Ari Allred  ·  ariallred@gmail.com  ·  July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6355080"/>
            <a:ext cx="9235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8FA8CF"/>
                </a:solidFill>
                <a:latin typeface="Calibri"/>
              </a:rPr>
              <a:t>Research software. Backtested results are hypotheses, not promises. Past performance does not predict future results. Not financial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