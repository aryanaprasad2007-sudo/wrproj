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dPt>
            <c:idx val="0"/>
            <c:spPr>
              <a:solidFill>
                <a:srgbClr val="F6465D"/>
              </a:solidFill>
            </c:spPr>
          </c:dPt>
          <c:dPt>
            <c:idx val="1"/>
            <c:spPr>
              <a:solidFill>
                <a:srgbClr val="8A97B5"/>
              </a:solidFill>
            </c:spPr>
          </c:dPt>
          <c:dPt>
            <c:idx val="2"/>
            <c:spPr>
              <a:solidFill>
                <a:srgbClr val="16C784"/>
              </a:solidFill>
            </c:spPr>
          </c:dPt>
          <c:dPt>
            <c:idx val="3"/>
            <c:spPr>
              <a:solidFill>
                <a:srgbClr val="2DD4BF"/>
              </a:solidFill>
            </c:spPr>
          </c:dPt>
          <c:dPt>
            <c:idx val="4"/>
            <c:spPr>
              <a:solidFill>
                <a:srgbClr val="F0B90B"/>
              </a:solidFill>
            </c:spPr>
          </c:dPt>
          <c:cat>
            <c:strRef>
              <c:f>Sheet1!$A$2:$A$6</c:f>
              <c:strCache>
                <c:ptCount val="5"/>
                <c:pt idx="0">
                  <c:v>Stop</c:v>
                </c:pt>
                <c:pt idx="1">
                  <c:v>Entry</c:v>
                </c:pt>
                <c:pt idx="2">
                  <c:v>Breakeven</c:v>
                </c:pt>
                <c:pt idx="3">
                  <c:v>Partial +1R</c:v>
                </c:pt>
                <c:pt idx="4">
                  <c:v>Target +2R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-1.0</c:v>
                </c:pt>
                <c:pt idx="1">
                  <c:v>0.0</c:v>
                </c:pt>
                <c:pt idx="2">
                  <c:v>0.0</c:v>
                </c:pt>
                <c:pt idx="3">
                  <c:v>1.0</c:v>
                </c:pt>
                <c:pt idx="4">
                  <c:v>2.0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55C"/>
            </a:solidFill>
          </a:ln>
        </c:spPr>
        <c:txPr>
          <a:bodyPr/>
          <a:lstStyle/>
          <a:p>
            <a:pPr>
              <a:defRPr sz="1000">
                <a:solidFill>
                  <a:srgbClr val="8A97B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2A355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55C"/>
            </a:solidFill>
          </a:ln>
        </c:spPr>
        <c:txPr>
          <a:bodyPr/>
          <a:lstStyle/>
          <a:p>
            <a:pPr>
              <a:defRPr sz="1000">
                <a:solidFill>
                  <a:srgbClr val="8A97B5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8019" y="2743200"/>
            <a:ext cx="21945" cy="2788920"/>
          </a:xfrm>
          <a:prstGeom prst="rect">
            <a:avLst/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3703320"/>
            <a:ext cx="420624" cy="868680"/>
          </a:xfrm>
          <a:prstGeom prst="roundRect">
            <a:avLst>
              <a:gd name="adj" fmla="val 35000"/>
            </a:avLst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54403" y="2971800"/>
            <a:ext cx="21945" cy="2331720"/>
          </a:xfrm>
          <a:prstGeom prst="rect">
            <a:avLst/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55064" y="3817620"/>
            <a:ext cx="420624" cy="640080"/>
          </a:xfrm>
          <a:prstGeom prst="roundRect">
            <a:avLst>
              <a:gd name="adj" fmla="val 35000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40787" y="3108960"/>
            <a:ext cx="21945" cy="2057400"/>
          </a:xfrm>
          <a:prstGeom prst="rect">
            <a:avLst/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41448" y="3566160"/>
            <a:ext cx="420624" cy="1143000"/>
          </a:xfrm>
          <a:prstGeom prst="roundRect">
            <a:avLst>
              <a:gd name="adj" fmla="val 35000"/>
            </a:avLst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7171" y="2880360"/>
            <a:ext cx="21945" cy="2514600"/>
          </a:xfrm>
          <a:prstGeom prst="rect">
            <a:avLst/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27832" y="3781044"/>
            <a:ext cx="420624" cy="713232"/>
          </a:xfrm>
          <a:prstGeom prst="roundRect">
            <a:avLst>
              <a:gd name="adj" fmla="val 35000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3555" y="3154679"/>
            <a:ext cx="21945" cy="1965960"/>
          </a:xfrm>
          <a:prstGeom prst="rect">
            <a:avLst/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14215" y="3451859"/>
            <a:ext cx="420624" cy="1371600"/>
          </a:xfrm>
          <a:prstGeom prst="roundRect">
            <a:avLst>
              <a:gd name="adj" fmla="val 35000"/>
            </a:avLst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99939" y="2948939"/>
            <a:ext cx="21945" cy="2377440"/>
          </a:xfrm>
          <a:prstGeom prst="rect">
            <a:avLst/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00600" y="3726179"/>
            <a:ext cx="420624" cy="822960"/>
          </a:xfrm>
          <a:prstGeom prst="roundRect">
            <a:avLst>
              <a:gd name="adj" fmla="val 35000"/>
            </a:avLst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86323" y="2788920"/>
            <a:ext cx="21945" cy="2697480"/>
          </a:xfrm>
          <a:prstGeom prst="rect">
            <a:avLst/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86984" y="3854196"/>
            <a:ext cx="420624" cy="566928"/>
          </a:xfrm>
          <a:prstGeom prst="roundRect">
            <a:avLst>
              <a:gd name="adj" fmla="val 35000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72707" y="3063239"/>
            <a:ext cx="21945" cy="2148840"/>
          </a:xfrm>
          <a:prstGeom prst="rect">
            <a:avLst/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73368" y="3589020"/>
            <a:ext cx="420624" cy="1097280"/>
          </a:xfrm>
          <a:prstGeom prst="roundRect">
            <a:avLst>
              <a:gd name="adj" fmla="val 35000"/>
            </a:avLst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59091" y="2903220"/>
            <a:ext cx="21945" cy="2468880"/>
          </a:xfrm>
          <a:prstGeom prst="rect">
            <a:avLst/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59752" y="3680460"/>
            <a:ext cx="420624" cy="914400"/>
          </a:xfrm>
          <a:prstGeom prst="roundRect">
            <a:avLst>
              <a:gd name="adj" fmla="val 35000"/>
            </a:avLst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45475" y="2766060"/>
            <a:ext cx="21945" cy="2743200"/>
          </a:xfrm>
          <a:prstGeom prst="rect">
            <a:avLst/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46136" y="3771900"/>
            <a:ext cx="420624" cy="731520"/>
          </a:xfrm>
          <a:prstGeom prst="roundRect">
            <a:avLst>
              <a:gd name="adj" fmla="val 35000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1859" y="3040379"/>
            <a:ext cx="21945" cy="2194560"/>
          </a:xfrm>
          <a:prstGeom prst="rect">
            <a:avLst/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32519" y="3520439"/>
            <a:ext cx="420624" cy="1234440"/>
          </a:xfrm>
          <a:prstGeom prst="roundRect">
            <a:avLst>
              <a:gd name="adj" fmla="val 35000"/>
            </a:avLst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18243" y="2857500"/>
            <a:ext cx="21945" cy="2560320"/>
          </a:xfrm>
          <a:prstGeom prst="rect">
            <a:avLst/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18903" y="3717035"/>
            <a:ext cx="420624" cy="841248"/>
          </a:xfrm>
          <a:prstGeom prst="roundRect">
            <a:avLst>
              <a:gd name="adj" fmla="val 35000"/>
            </a:avLst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04627" y="2720339"/>
            <a:ext cx="21945" cy="2834640"/>
          </a:xfrm>
          <a:prstGeom prst="rect">
            <a:avLst/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05288" y="3799331"/>
            <a:ext cx="420624" cy="676656"/>
          </a:xfrm>
          <a:prstGeom prst="roundRect">
            <a:avLst>
              <a:gd name="adj" fmla="val 35000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291011" y="2994660"/>
            <a:ext cx="21945" cy="2286000"/>
          </a:xfrm>
          <a:prstGeom prst="rect">
            <a:avLst/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091672" y="3634739"/>
            <a:ext cx="420624" cy="1005840"/>
          </a:xfrm>
          <a:prstGeom prst="roundRect">
            <a:avLst>
              <a:gd name="adj" fmla="val 35000"/>
            </a:avLst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12344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600" b="1" i="0" spc="120">
                <a:solidFill>
                  <a:srgbClr val="EAF0FF"/>
                </a:solidFill>
                <a:latin typeface="Cambria"/>
              </a:rPr>
              <a:t>SWING_PRO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2395728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2DD4BF"/>
                </a:solidFill>
                <a:latin typeface="Calibri"/>
              </a:rPr>
              <a:t>Adaptive multi-filter swing &amp; scalp strategy for TradingView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8412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2DD4BF"/>
                </a:solidFill>
                <a:latin typeface="Calibri"/>
              </a:rPr>
              <a:t>PINE SCRIPT v6   ·   BACKTESTABLE STRATEGY   ·   NOT FINANCIAL ADVICE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897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0" i="1">
                <a:solidFill>
                  <a:srgbClr val="8A97B5"/>
                </a:solidFill>
                <a:latin typeface="Calibri"/>
              </a:rPr>
              <a:t>Trend, momentum and context must agree — then it acts. And every signal is measurable.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2DD4BF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300" b="1" i="0">
                <a:solidFill>
                  <a:srgbClr val="EAF0FF"/>
                </a:solidFill>
                <a:latin typeface="Cambria"/>
              </a:rPr>
              <a:t>Most “signal” indicators can’t be trusted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49240" cy="2148840"/>
          </a:xfrm>
          <a:prstGeom prst="roundRect">
            <a:avLst>
              <a:gd name="adj" fmla="val 5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212848"/>
            <a:ext cx="603504" cy="603504"/>
          </a:xfrm>
          <a:prstGeom prst="ellipse">
            <a:avLst/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0E1525"/>
                </a:solidFill>
                <a:latin typeface="Calibri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12848"/>
            <a:ext cx="379475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EAF0FF"/>
                </a:solidFill>
                <a:latin typeface="Cambria"/>
              </a:rPr>
              <a:t>Timeframe mismatch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98064"/>
            <a:ext cx="384047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8A97B5"/>
                </a:solidFill>
                <a:latin typeface="Calibri"/>
              </a:rPr>
              <a:t>A trend line built on the wrong timeframe pins signals to one side — it printed only SELLs while price ripped +3%.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828800"/>
            <a:ext cx="5349240" cy="2148840"/>
          </a:xfrm>
          <a:prstGeom prst="roundRect">
            <a:avLst>
              <a:gd name="adj" fmla="val 5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20840" y="2212848"/>
            <a:ext cx="603504" cy="603504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19456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0E1525"/>
                </a:solidFill>
                <a:latin typeface="Calibri"/>
              </a:rPr>
              <a:t>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212848"/>
            <a:ext cx="379475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EAF0FF"/>
                </a:solidFill>
                <a:latin typeface="Cambria"/>
              </a:rPr>
              <a:t>One-sided in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798064"/>
            <a:ext cx="384047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8A97B5"/>
                </a:solidFill>
                <a:latin typeface="Calibri"/>
              </a:rPr>
              <a:t>Loose counter-trend triggers flood one direction; the signals you actually need never fire.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79"/>
            <a:ext cx="5349240" cy="2148840"/>
          </a:xfrm>
          <a:prstGeom prst="roundRect">
            <a:avLst>
              <a:gd name="adj" fmla="val 5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4681727"/>
            <a:ext cx="603504" cy="60350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0E1525"/>
                </a:solidFill>
                <a:latin typeface="Calibri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681727"/>
            <a:ext cx="379475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EAF0FF"/>
                </a:solidFill>
                <a:latin typeface="Cambria"/>
              </a:rPr>
              <a:t>No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266944"/>
            <a:ext cx="384047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8A97B5"/>
                </a:solidFill>
                <a:latin typeface="Calibri"/>
              </a:rPr>
              <a:t>Pretty arrows, zero P&amp;L. Win rate, profit factor and drawdown are simply unknown.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4297679"/>
            <a:ext cx="5349240" cy="2148840"/>
          </a:xfrm>
          <a:prstGeom prst="roundRect">
            <a:avLst>
              <a:gd name="adj" fmla="val 5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20840" y="4681727"/>
            <a:ext cx="603504" cy="603504"/>
          </a:xfrm>
          <a:prstGeom prst="ellipse">
            <a:avLst/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66344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0E1525"/>
                </a:solidFill>
                <a:latin typeface="Calibri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681727"/>
            <a:ext cx="379475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EAF0FF"/>
                </a:solidFill>
                <a:latin typeface="Cambria"/>
              </a:rPr>
              <a:t>Chasing &amp; over-trading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5266944"/>
            <a:ext cx="384047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8A97B5"/>
                </a:solidFill>
                <a:latin typeface="Calibri"/>
              </a:rPr>
              <a:t>Entering on climax bars with no spacing or stop logic — death by a thousand whipsaws.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8A97B5"/>
                </a:solidFill>
                <a:latin typeface="Calibri"/>
              </a:rPr>
              <a:t>SWING_PRO</a:t>
            </a:r>
            <a:r>
              <a:rPr sz="950" b="0" i="0">
                <a:solidFill>
                  <a:srgbClr val="8A97B5"/>
                </a:solidFill>
                <a:latin typeface="Calibri"/>
              </a:rPr>
              <a:t>   ·   Adaptive Pine v6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3737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1" i="0">
                <a:solidFill>
                  <a:srgbClr val="8A97B5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2DD4BF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300" b="1" i="0">
                <a:solidFill>
                  <a:srgbClr val="EAF0FF"/>
                </a:solidFill>
                <a:latin typeface="Cambria"/>
              </a:rPr>
              <a:t>A confluence filter — not a fortune-teller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943600" cy="3291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50" b="0" i="0">
                <a:solidFill>
                  <a:srgbClr val="EAF0FF"/>
                </a:solidFill>
                <a:latin typeface="Calibri"/>
              </a:rPr>
              <a:t>SWING_PRO doesn’t predict price. It waits for independent signals to </a:t>
            </a:r>
            <a:r>
              <a:rPr sz="1650" b="1" i="0">
                <a:solidFill>
                  <a:srgbClr val="2DD4BF"/>
                </a:solidFill>
                <a:latin typeface="Calibri"/>
              </a:rPr>
              <a:t>agree</a:t>
            </a:r>
            <a:r>
              <a:rPr sz="1650" b="0" i="0">
                <a:solidFill>
                  <a:srgbClr val="EAF0FF"/>
                </a:solidFill>
                <a:latin typeface="Calibri"/>
              </a:rPr>
              <a:t>, then acts — and records the result.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500" b="0" i="0">
                <a:solidFill>
                  <a:srgbClr val="8A97B5"/>
                </a:solidFill>
                <a:latin typeface="Calibri"/>
              </a:rPr>
              <a:t>State-based entries (no exact-cross timing needed), a non-repainting higher-timeframe trend, volatility-aware filters, and an explicit exit engine.</a:t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EAF0FF"/>
                </a:solidFill>
                <a:latin typeface="Calibri"/>
              </a:rPr>
              <a:t>Built as a </a:t>
            </a:r>
            <a:r>
              <a:rPr sz="1650" b="1" i="0">
                <a:solidFill>
                  <a:srgbClr val="F0B90B"/>
                </a:solidFill>
                <a:latin typeface="Calibri"/>
              </a:rPr>
              <a:t>strategy()</a:t>
            </a:r>
            <a:r>
              <a:rPr sz="1650" b="0" i="0">
                <a:solidFill>
                  <a:srgbClr val="EAF0FF"/>
                </a:solidFill>
                <a:latin typeface="Calibri"/>
              </a:rPr>
              <a:t>, so every decision shows up as real, testable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874519"/>
            <a:ext cx="4663440" cy="566928"/>
          </a:xfrm>
          <a:prstGeom prst="roundRect">
            <a:avLst>
              <a:gd name="adj" fmla="val 14000"/>
            </a:avLst>
          </a:prstGeom>
          <a:solidFill>
            <a:srgbClr val="1E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8040" y="1874519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EAF0FF"/>
                </a:solidFill>
                <a:latin typeface="Calibri"/>
              </a:rPr>
              <a:t>Higher-timeframe trend</a:t>
            </a:r>
          </a:p>
        </p:txBody>
      </p:sp>
      <p:sp>
        <p:nvSpPr>
          <p:cNvPr id="7" name="Oval 6"/>
          <p:cNvSpPr/>
          <p:nvPr/>
        </p:nvSpPr>
        <p:spPr>
          <a:xfrm>
            <a:off x="11109959" y="2116836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03720" y="2642615"/>
            <a:ext cx="4663440" cy="566928"/>
          </a:xfrm>
          <a:prstGeom prst="roundRect">
            <a:avLst>
              <a:gd name="adj" fmla="val 14000"/>
            </a:avLst>
          </a:prstGeom>
          <a:solidFill>
            <a:srgbClr val="1E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2642615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EAF0FF"/>
                </a:solidFill>
                <a:latin typeface="Calibri"/>
              </a:rPr>
              <a:t>Momentum: MACD + Impulse + RSI</a:t>
            </a:r>
          </a:p>
        </p:txBody>
      </p:sp>
      <p:sp>
        <p:nvSpPr>
          <p:cNvPr id="10" name="Oval 9"/>
          <p:cNvSpPr/>
          <p:nvPr/>
        </p:nvSpPr>
        <p:spPr>
          <a:xfrm>
            <a:off x="11109959" y="2884932"/>
            <a:ext cx="82296" cy="82296"/>
          </a:xfrm>
          <a:prstGeom prst="ellipse">
            <a:avLst/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03720" y="3410711"/>
            <a:ext cx="4663440" cy="566928"/>
          </a:xfrm>
          <a:prstGeom prst="roundRect">
            <a:avLst>
              <a:gd name="adj" fmla="val 14000"/>
            </a:avLst>
          </a:prstGeom>
          <a:solidFill>
            <a:srgbClr val="1E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3410711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EAF0FF"/>
                </a:solidFill>
                <a:latin typeface="Calibri"/>
              </a:rPr>
              <a:t>Context: ADX · Volume · Session</a:t>
            </a:r>
          </a:p>
        </p:txBody>
      </p:sp>
      <p:sp>
        <p:nvSpPr>
          <p:cNvPr id="13" name="Oval 12"/>
          <p:cNvSpPr/>
          <p:nvPr/>
        </p:nvSpPr>
        <p:spPr>
          <a:xfrm>
            <a:off x="11109959" y="3653027"/>
            <a:ext cx="82296" cy="82296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03720" y="4178808"/>
            <a:ext cx="4663440" cy="566928"/>
          </a:xfrm>
          <a:prstGeom prst="roundRect">
            <a:avLst>
              <a:gd name="adj" fmla="val 14000"/>
            </a:avLst>
          </a:prstGeom>
          <a:solidFill>
            <a:srgbClr val="1E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4178808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EAF0FF"/>
                </a:solidFill>
                <a:latin typeface="Calibri"/>
              </a:rPr>
              <a:t>Risk: structure stop · partial · breakeven</a:t>
            </a:r>
          </a:p>
        </p:txBody>
      </p:sp>
      <p:sp>
        <p:nvSpPr>
          <p:cNvPr id="16" name="Oval 15"/>
          <p:cNvSpPr/>
          <p:nvPr/>
        </p:nvSpPr>
        <p:spPr>
          <a:xfrm>
            <a:off x="11109959" y="4421124"/>
            <a:ext cx="82296" cy="82296"/>
          </a:xfrm>
          <a:prstGeom prst="ellipse">
            <a:avLst/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18120" y="4946904"/>
            <a:ext cx="2834639" cy="566928"/>
          </a:xfrm>
          <a:prstGeom prst="roundRect">
            <a:avLst>
              <a:gd name="adj" fmla="val 14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946904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E1525"/>
                </a:solidFill>
                <a:latin typeface="Cambria"/>
              </a:rPr>
              <a:t>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8A97B5"/>
                </a:solidFill>
                <a:latin typeface="Calibri"/>
              </a:rPr>
              <a:t>SWING_PRO</a:t>
            </a:r>
            <a:r>
              <a:rPr sz="950" b="0" i="0">
                <a:solidFill>
                  <a:srgbClr val="8A97B5"/>
                </a:solidFill>
                <a:latin typeface="Calibri"/>
              </a:rPr>
              <a:t>   ·   Adaptive Pine v6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3737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1" i="0">
                <a:solidFill>
                  <a:srgbClr val="8A97B5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2DD4BF"/>
                </a:solidFill>
                <a:latin typeface="Calibri"/>
              </a:rPr>
              <a:t>HOW IT 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300" b="1" i="0">
                <a:solidFill>
                  <a:srgbClr val="EAF0FF"/>
                </a:solidFill>
                <a:latin typeface="Cambria"/>
              </a:rPr>
              <a:t>Six checks before a single trade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93592" cy="1993392"/>
          </a:xfrm>
          <a:prstGeom prst="roundRect">
            <a:avLst>
              <a:gd name="adj" fmla="val 6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2139696"/>
            <a:ext cx="548640" cy="54864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214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900" b="1" i="0">
                <a:solidFill>
                  <a:srgbClr val="0E1525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798064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EAF0FF"/>
                </a:solidFill>
                <a:latin typeface="Cambria"/>
              </a:rPr>
              <a:t>Adaptive HTF trend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200400"/>
            <a:ext cx="302666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97B5"/>
                </a:solidFill>
                <a:latin typeface="Calibri"/>
              </a:rPr>
              <a:t>Trend regime scales to your chart — responsive, but filters chop.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828800"/>
            <a:ext cx="3593592" cy="1993392"/>
          </a:xfrm>
          <a:prstGeom prst="roundRect">
            <a:avLst>
              <a:gd name="adj" fmla="val 6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09159" y="2139696"/>
            <a:ext cx="548640" cy="54864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21214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900" b="1" i="0">
                <a:solidFill>
                  <a:srgbClr val="0E1525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798064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EAF0FF"/>
                </a:solidFill>
                <a:latin typeface="Cambria"/>
              </a:rPr>
              <a:t>Slope, not just 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3200400"/>
            <a:ext cx="302666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97B5"/>
                </a:solidFill>
                <a:latin typeface="Calibri"/>
              </a:rPr>
              <a:t>The trend must move a minimum number of ATRs — flat tape = stand aside.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828800"/>
            <a:ext cx="3593592" cy="1993392"/>
          </a:xfrm>
          <a:prstGeom prst="roundRect">
            <a:avLst>
              <a:gd name="adj" fmla="val 6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58784" y="2139696"/>
            <a:ext cx="548640" cy="54864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58784" y="21214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900" b="1" i="0">
                <a:solidFill>
                  <a:srgbClr val="0E1525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4" y="2798064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EAF0FF"/>
                </a:solidFill>
                <a:latin typeface="Cambria"/>
              </a:rPr>
              <a:t>MACD + Impulse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3200400"/>
            <a:ext cx="302666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97B5"/>
                </a:solidFill>
                <a:latin typeface="Calibri"/>
              </a:rPr>
              <a:t>Two independent momentum engines must point the same way.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96512"/>
            <a:ext cx="3593592" cy="1993392"/>
          </a:xfrm>
          <a:prstGeom prst="roundRect">
            <a:avLst>
              <a:gd name="adj" fmla="val 6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4407408"/>
            <a:ext cx="548640" cy="54864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3891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900" b="1" i="0">
                <a:solidFill>
                  <a:srgbClr val="0E1525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5065776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EAF0FF"/>
                </a:solidFill>
                <a:latin typeface="Cambria"/>
              </a:rPr>
              <a:t>RSI neutral band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468112"/>
            <a:ext cx="302666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97B5"/>
                </a:solidFill>
                <a:latin typeface="Calibri"/>
              </a:rPr>
              <a:t>Momentum must be present — not 50/50 coin-flips.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98264" y="4096512"/>
            <a:ext cx="3593592" cy="1993392"/>
          </a:xfrm>
          <a:prstGeom prst="roundRect">
            <a:avLst>
              <a:gd name="adj" fmla="val 6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09159" y="4407408"/>
            <a:ext cx="548640" cy="54864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43891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900" b="1" i="0">
                <a:solidFill>
                  <a:srgbClr val="0E1525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5065776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EAF0FF"/>
                </a:solidFill>
                <a:latin typeface="Cambria"/>
              </a:rPr>
              <a:t>ADX · Volume · 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5468112"/>
            <a:ext cx="302666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97B5"/>
                </a:solidFill>
                <a:latin typeface="Calibri"/>
              </a:rPr>
              <a:t>Strength, participation and time-of-day all gate the entry.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47888" y="4096512"/>
            <a:ext cx="3593592" cy="1993392"/>
          </a:xfrm>
          <a:prstGeom prst="roundRect">
            <a:avLst>
              <a:gd name="adj" fmla="val 6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58784" y="4407408"/>
            <a:ext cx="548640" cy="54864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58784" y="43891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900" b="1" i="0">
                <a:solidFill>
                  <a:srgbClr val="0E1525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58784" y="5065776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EAF0FF"/>
                </a:solidFill>
                <a:latin typeface="Cambria"/>
              </a:rPr>
              <a:t>Anti-chase guards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8784" y="5468112"/>
            <a:ext cx="302666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97B5"/>
                </a:solidFill>
                <a:latin typeface="Calibri"/>
              </a:rPr>
              <a:t>No buying spikes, no selling wash-outs, enforced spacing between trades.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8A97B5"/>
                </a:solidFill>
                <a:latin typeface="Calibri"/>
              </a:rPr>
              <a:t>SWING_PRO</a:t>
            </a:r>
            <a:r>
              <a:rPr sz="950" b="0" i="0">
                <a:solidFill>
                  <a:srgbClr val="8A97B5"/>
                </a:solidFill>
                <a:latin typeface="Calibri"/>
              </a:rPr>
              <a:t>   ·   Adaptive Pine v6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1535" y="643737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1" i="0">
                <a:solidFill>
                  <a:srgbClr val="8A97B5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2DD4BF"/>
                </a:solidFill>
                <a:latin typeface="Calibri"/>
              </a:rPr>
              <a:t>THREE ENTRY STYLES — TOGGLE EACH INDEPENDENTLY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300" b="1" i="0">
                <a:solidFill>
                  <a:srgbClr val="EAF0FF"/>
                </a:solidFill>
                <a:latin typeface="Cambria"/>
              </a:rPr>
              <a:t>Trade your way, then A/B what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593592" cy="3383280"/>
          </a:xfrm>
          <a:prstGeom prst="roundRect">
            <a:avLst>
              <a:gd name="adj" fmla="val 5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240279"/>
            <a:ext cx="713232" cy="713232"/>
          </a:xfrm>
          <a:prstGeom prst="ellipse">
            <a:avLst/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79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3000" b="1" i="0">
                <a:solidFill>
                  <a:srgbClr val="0E1525"/>
                </a:solidFill>
                <a:latin typeface="Cambria"/>
              </a:rP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2377439"/>
            <a:ext cx="868680" cy="420624"/>
          </a:xfrm>
          <a:prstGeom prst="roundRect">
            <a:avLst>
              <a:gd name="adj" fmla="val 50000"/>
            </a:avLst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07792" y="2377439"/>
            <a:ext cx="868680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0E1525"/>
                </a:solidFill>
                <a:latin typeface="Calibri"/>
              </a:rPr>
              <a:t>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86207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300" b="1" i="0">
                <a:solidFill>
                  <a:srgbClr val="EAF0FF"/>
                </a:solidFill>
                <a:latin typeface="Cambria"/>
              </a:rPr>
              <a:t>Trend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85031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16C784"/>
                </a:solidFill>
                <a:latin typeface="Calibri"/>
              </a:rPr>
              <a:t>Everything lines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2935224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97B5"/>
                </a:solidFill>
                <a:latin typeface="Calibri"/>
              </a:rPr>
              <a:t>Enter when trend, momentum and every filter agree. The core, highest-conviction setup.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874519"/>
            <a:ext cx="3593592" cy="3383280"/>
          </a:xfrm>
          <a:prstGeom prst="roundRect">
            <a:avLst>
              <a:gd name="adj" fmla="val 5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64024" y="2240279"/>
            <a:ext cx="713232" cy="713232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024" y="2240279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3000" b="1" i="0">
                <a:solidFill>
                  <a:srgbClr val="0E1525"/>
                </a:solidFill>
                <a:latin typeface="Cambria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57416" y="2377439"/>
            <a:ext cx="868680" cy="420624"/>
          </a:xfrm>
          <a:prstGeom prst="roundRect">
            <a:avLst>
              <a:gd name="adj" fmla="val 50000"/>
            </a:avLst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57416" y="2377439"/>
            <a:ext cx="868680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0E1525"/>
                </a:solidFill>
                <a:latin typeface="Calibri"/>
              </a:rPr>
              <a:t>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024" y="3200400"/>
            <a:ext cx="286207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300" b="1" i="0">
                <a:solidFill>
                  <a:srgbClr val="EAF0FF"/>
                </a:solidFill>
                <a:latin typeface="Cambria"/>
              </a:rPr>
              <a:t>Pullback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4" y="3685031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Buy the dip / sell the bounce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4024" y="4160520"/>
            <a:ext cx="2935224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97B5"/>
                </a:solidFill>
                <a:latin typeface="Calibri"/>
              </a:rPr>
              <a:t>In an established trend, enter when price pulls back and then resumes. Better average price.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1874519"/>
            <a:ext cx="3593592" cy="3383280"/>
          </a:xfrm>
          <a:prstGeom prst="roundRect">
            <a:avLst>
              <a:gd name="adj" fmla="val 5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13648" y="2240279"/>
            <a:ext cx="713232" cy="713232"/>
          </a:xfrm>
          <a:prstGeom prst="ellipse">
            <a:avLst/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3648" y="2240279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3000" b="1" i="0">
                <a:solidFill>
                  <a:srgbClr val="0E1525"/>
                </a:solidFill>
                <a:latin typeface="Cambria"/>
              </a:rPr>
              <a:t>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07040" y="2377439"/>
            <a:ext cx="868680" cy="420624"/>
          </a:xfrm>
          <a:prstGeom prst="roundRect">
            <a:avLst>
              <a:gd name="adj" fmla="val 50000"/>
            </a:avLst>
          </a:prstGeom>
          <a:solidFill>
            <a:srgbClr val="1E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2377439"/>
            <a:ext cx="868680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8A97B5"/>
                </a:solidFill>
                <a:latin typeface="Calibri"/>
              </a:rPr>
              <a:t>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3200400"/>
            <a:ext cx="286207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300" b="1" i="0">
                <a:solidFill>
                  <a:srgbClr val="EAF0FF"/>
                </a:solidFill>
                <a:latin typeface="Cambria"/>
              </a:rPr>
              <a:t>Reversal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3685031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F6465D"/>
                </a:solidFill>
                <a:latin typeface="Calibri"/>
              </a:rPr>
              <a:t>Counter-trend 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4160520"/>
            <a:ext cx="2935224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97B5"/>
                </a:solidFill>
                <a:latin typeface="Calibri"/>
              </a:rPr>
              <a:t>Catches early turns against the trend. The riskiest style — off by default until you prove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8A97B5"/>
                </a:solidFill>
                <a:latin typeface="Calibri"/>
              </a:rPr>
              <a:t>SWING_PRO</a:t>
            </a:r>
            <a:r>
              <a:rPr sz="950" b="0" i="0">
                <a:solidFill>
                  <a:srgbClr val="8A97B5"/>
                </a:solidFill>
                <a:latin typeface="Calibri"/>
              </a:rPr>
              <a:t>   ·   Adaptive Pine v6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43737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1" i="0">
                <a:solidFill>
                  <a:srgbClr val="8A97B5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2DD4BF"/>
                </a:solidFill>
                <a:latin typeface="Calibri"/>
              </a:rPr>
              <a:t>THE RISK ENGINE — WHERE WIN-RATE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300" b="1" i="0">
                <a:solidFill>
                  <a:srgbClr val="EAF0FF"/>
                </a:solidFill>
                <a:latin typeface="Cambria"/>
              </a:rPr>
              <a:t>Protect first, bank early, let runners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669280" cy="1298448"/>
          </a:xfrm>
          <a:prstGeom prst="roundRect">
            <a:avLst>
              <a:gd name="adj" fmla="val 7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331720"/>
            <a:ext cx="384048" cy="384048"/>
          </a:xfrm>
          <a:prstGeom prst="ellipse">
            <a:avLst/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07568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EAF0FF"/>
                </a:solidFill>
                <a:latin typeface="Cambria"/>
              </a:rPr>
              <a:t>Structure stop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532887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97B5"/>
                </a:solidFill>
                <a:latin typeface="Calibri"/>
              </a:rPr>
              <a:t>Stop sits just past the recent swing — where the trade is actually wrong, not an arbitrary distance.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55848"/>
            <a:ext cx="5669280" cy="1298448"/>
          </a:xfrm>
          <a:prstGeom prst="roundRect">
            <a:avLst>
              <a:gd name="adj" fmla="val 7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813048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355701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EAF0FF"/>
                </a:solidFill>
                <a:latin typeface="Cambria"/>
              </a:rPr>
              <a:t>Partial at +1R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014215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97B5"/>
                </a:solidFill>
                <a:latin typeface="Calibri"/>
              </a:rPr>
              <a:t>Bank 50% at the first target. Turns “almost worked” trades into real wins.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37176"/>
            <a:ext cx="5669280" cy="1298448"/>
          </a:xfrm>
          <a:prstGeom prst="roundRect">
            <a:avLst>
              <a:gd name="adj" fmla="val 7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5294376"/>
            <a:ext cx="384048" cy="384048"/>
          </a:xfrm>
          <a:prstGeom prst="ellipse">
            <a:avLst/>
          </a:prstGeom>
          <a:solidFill>
            <a:srgbClr val="16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503834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EAF0FF"/>
                </a:solidFill>
                <a:latin typeface="Cambria"/>
              </a:rPr>
              <a:t>Stop → breakeven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495544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97B5"/>
                </a:solidFill>
                <a:latin typeface="Calibri"/>
              </a:rPr>
              <a:t>Once in profit, the stop slides to entry. A winner can’t become a loser.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874519"/>
            <a:ext cx="5074920" cy="3977639"/>
          </a:xfrm>
          <a:prstGeom prst="roundRect">
            <a:avLst>
              <a:gd name="adj" fmla="val 4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2057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EAF0FF"/>
                </a:solidFill>
                <a:latin typeface="Cambria"/>
              </a:rPr>
              <a:t>Anatomy of one trade  </a:t>
            </a:r>
            <a:r>
              <a:rPr sz="1200" b="0" i="0">
                <a:solidFill>
                  <a:srgbClr val="8A97B5"/>
                </a:solidFill>
                <a:latin typeface="Calibri"/>
              </a:rPr>
              <a:t>(R = risk)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766560" y="2514600"/>
          <a:ext cx="475488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8A97B5"/>
                </a:solidFill>
                <a:latin typeface="Calibri"/>
              </a:rPr>
              <a:t>SWING_PRO</a:t>
            </a:r>
            <a:r>
              <a:rPr sz="950" b="0" i="0">
                <a:solidFill>
                  <a:srgbClr val="8A97B5"/>
                </a:solidFill>
                <a:latin typeface="Calibri"/>
              </a:rPr>
              <a:t>   ·   Adaptive Pine v6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3737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1" i="0">
                <a:solidFill>
                  <a:srgbClr val="8A97B5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2DD4BF"/>
                </a:solidFill>
                <a:latin typeface="Calibri"/>
              </a:rPr>
              <a:t>PROVE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300" b="1" i="0">
                <a:solidFill>
                  <a:srgbClr val="EAF0FF"/>
                </a:solidFill>
                <a:latin typeface="Cambria"/>
              </a:rPr>
              <a:t>If you can’t measure it, you can’t trust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394960" cy="3291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1650" b="0" i="0">
                <a:solidFill>
                  <a:srgbClr val="EAF0FF"/>
                </a:solidFill>
                <a:latin typeface="Calibri"/>
              </a:rPr>
              <a:t>It’s a real </a:t>
            </a:r>
            <a:r>
              <a:rPr sz="1650" b="1" i="0">
                <a:solidFill>
                  <a:srgbClr val="F0B90B"/>
                </a:solidFill>
                <a:latin typeface="Calibri"/>
              </a:rPr>
              <a:t>strategy()</a:t>
            </a:r>
            <a:r>
              <a:rPr sz="1650" b="0" i="0">
                <a:solidFill>
                  <a:srgbClr val="EAF0FF"/>
                </a:solidFill>
                <a:latin typeface="Calibri"/>
              </a:rPr>
              <a:t>, not a drawing.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• </a:t>
            </a:r>
            <a:r>
              <a:rPr sz="1450" b="0" i="0">
                <a:solidFill>
                  <a:srgbClr val="8A97B5"/>
                </a:solidFill>
                <a:latin typeface="Calibri"/>
              </a:rPr>
              <a:t>Net P&amp;L, win rate, profit factor and drawdown in the Strategy Tester.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• </a:t>
            </a:r>
            <a:r>
              <a:rPr sz="1450" b="0" i="0">
                <a:solidFill>
                  <a:srgbClr val="8A97B5"/>
                </a:solidFill>
                <a:latin typeface="Calibri"/>
              </a:rPr>
              <a:t>Commission and slippage modelled — no fantasy fills.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• </a:t>
            </a:r>
            <a:r>
              <a:rPr sz="1450" b="0" i="0">
                <a:solidFill>
                  <a:srgbClr val="8A97B5"/>
                </a:solidFill>
                <a:latin typeface="Calibri"/>
              </a:rPr>
              <a:t>A/B toggle every entry type and filter to isolate what adds edge.</a:t>
            </a:r>
          </a:p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DD4BF"/>
                </a:solidFill>
                <a:latin typeface="Calibri"/>
              </a:rPr>
              <a:t>• </a:t>
            </a:r>
            <a:r>
              <a:rPr sz="1450" b="0" i="0">
                <a:solidFill>
                  <a:srgbClr val="8A97B5"/>
                </a:solidFill>
                <a:latin typeface="Calibri"/>
              </a:rPr>
              <a:t>Built-in date window for walk-forward / out-of-sample testing.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783080"/>
            <a:ext cx="5303520" cy="978408"/>
          </a:xfrm>
          <a:prstGeom prst="roundRect">
            <a:avLst>
              <a:gd name="adj" fmla="val 8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1112" y="1783080"/>
            <a:ext cx="914400" cy="9784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2DD4BF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947672"/>
            <a:ext cx="384047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EAF0FF"/>
                </a:solidFill>
                <a:latin typeface="Cambria"/>
              </a:rPr>
              <a:t>Backtest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350008"/>
            <a:ext cx="38404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 i="0">
                <a:solidFill>
                  <a:srgbClr val="8A97B5"/>
                </a:solidFill>
                <a:latin typeface="Calibri"/>
              </a:rPr>
              <a:t>Baseline on your symbol &amp; timeframe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880360"/>
            <a:ext cx="5303520" cy="978408"/>
          </a:xfrm>
          <a:prstGeom prst="roundRect">
            <a:avLst>
              <a:gd name="adj" fmla="val 8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880360"/>
            <a:ext cx="914400" cy="9784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2DD4BF"/>
                </a:solidFill>
                <a:latin typeface="Cambr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044952"/>
            <a:ext cx="384047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EAF0FF"/>
                </a:solidFill>
                <a:latin typeface="Cambria"/>
              </a:rPr>
              <a:t>Isolate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447288"/>
            <a:ext cx="38404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 i="0">
                <a:solidFill>
                  <a:srgbClr val="8A97B5"/>
                </a:solidFill>
                <a:latin typeface="Calibri"/>
              </a:rPr>
              <a:t>A/B each entry type and filter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977640"/>
            <a:ext cx="5303520" cy="978408"/>
          </a:xfrm>
          <a:prstGeom prst="roundRect">
            <a:avLst>
              <a:gd name="adj" fmla="val 8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3977640"/>
            <a:ext cx="914400" cy="9784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2DD4BF"/>
                </a:solidFill>
                <a:latin typeface="Cambr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142232"/>
            <a:ext cx="384047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EAF0FF"/>
                </a:solidFill>
                <a:latin typeface="Cambria"/>
              </a:rPr>
              <a:t>Walk-forward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544568"/>
            <a:ext cx="38404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 i="0">
                <a:solidFill>
                  <a:srgbClr val="8A97B5"/>
                </a:solidFill>
                <a:latin typeface="Calibri"/>
              </a:rPr>
              <a:t>Confirm it holds out-of-sample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5074920"/>
            <a:ext cx="5303520" cy="978408"/>
          </a:xfrm>
          <a:prstGeom prst="roundRect">
            <a:avLst>
              <a:gd name="adj" fmla="val 8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5074920"/>
            <a:ext cx="914400" cy="9784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2DD4BF"/>
                </a:solidFill>
                <a:latin typeface="Cambr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5239512"/>
            <a:ext cx="384047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EAF0FF"/>
                </a:solidFill>
                <a:latin typeface="Cambria"/>
              </a:rPr>
              <a:t>Forward-test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5641848"/>
            <a:ext cx="38404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 i="0">
                <a:solidFill>
                  <a:srgbClr val="8A97B5"/>
                </a:solidFill>
                <a:latin typeface="Calibri"/>
              </a:rPr>
              <a:t>Paper-trade before real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8A97B5"/>
                </a:solidFill>
                <a:latin typeface="Calibri"/>
              </a:rPr>
              <a:t>SWING_PRO</a:t>
            </a:r>
            <a:r>
              <a:rPr sz="950" b="0" i="0">
                <a:solidFill>
                  <a:srgbClr val="8A97B5"/>
                </a:solidFill>
                <a:latin typeface="Calibri"/>
              </a:rPr>
              <a:t>   ·   Adaptive Pine v6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3737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1" i="0">
                <a:solidFill>
                  <a:srgbClr val="8A97B5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2DD4BF"/>
                </a:solidFill>
                <a:latin typeface="Calibri"/>
              </a:rPr>
              <a:t>BUILT TO COEXIST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300" b="1" i="0">
                <a:solidFill>
                  <a:srgbClr val="EAF0FF"/>
                </a:solidFill>
                <a:latin typeface="Cambria"/>
              </a:rPr>
              <a:t>Plays nicely with the rest of your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349240" cy="1554480"/>
          </a:xfrm>
          <a:prstGeom prst="roundRect">
            <a:avLst>
              <a:gd name="adj" fmla="val 7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" y="2377439"/>
            <a:ext cx="566928" cy="566928"/>
          </a:xfrm>
          <a:prstGeom prst="ellipse">
            <a:avLst/>
          </a:prstGeom>
          <a:solidFill>
            <a:srgbClr val="1E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359151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2DD4BF"/>
                </a:solidFill>
                <a:latin typeface="Calibri"/>
              </a:rPr>
              <a:t>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148839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50" b="1" i="0">
                <a:solidFill>
                  <a:srgbClr val="EAF0FF"/>
                </a:solidFill>
                <a:latin typeface="Cambria"/>
              </a:rPr>
              <a:t>Direction modes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642615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7B5"/>
                </a:solidFill>
                <a:latin typeface="Calibri"/>
              </a:rPr>
              <a:t>Run it sells-only, buys-only, or both — one dropdown.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874519"/>
            <a:ext cx="5349240" cy="1554480"/>
          </a:xfrm>
          <a:prstGeom prst="roundRect">
            <a:avLst>
              <a:gd name="adj" fmla="val 7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84264" y="2377439"/>
            <a:ext cx="566928" cy="566928"/>
          </a:xfrm>
          <a:prstGeom prst="ellipse">
            <a:avLst/>
          </a:prstGeom>
          <a:solidFill>
            <a:srgbClr val="1E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4264" y="2359151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2DD4BF"/>
                </a:solidFill>
                <a:latin typeface="Calibri"/>
              </a:rPr>
              <a:t>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148839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50" b="1" i="0">
                <a:solidFill>
                  <a:srgbClr val="EAF0FF"/>
                </a:solidFill>
                <a:latin typeface="Cambria"/>
              </a:rPr>
              <a:t>Indicator coordination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642615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7B5"/>
                </a:solidFill>
                <a:latin typeface="Calibri"/>
              </a:rPr>
              <a:t>Wire in another indicator’s signal: confirm on agreement, veto on conflict.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49240" cy="1554480"/>
          </a:xfrm>
          <a:prstGeom prst="roundRect">
            <a:avLst>
              <a:gd name="adj" fmla="val 7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7824" y="4251959"/>
            <a:ext cx="566928" cy="566928"/>
          </a:xfrm>
          <a:prstGeom prst="ellipse">
            <a:avLst/>
          </a:prstGeom>
          <a:solidFill>
            <a:srgbClr val="1E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2336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2DD4BF"/>
                </a:solidFill>
                <a:latin typeface="Calibri"/>
              </a:rPr>
              <a:t>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023359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50" b="1" i="0">
                <a:solidFill>
                  <a:srgbClr val="EAF0FF"/>
                </a:solidFill>
                <a:latin typeface="Cambria"/>
              </a:rPr>
              <a:t>Compact overlay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517136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7B5"/>
                </a:solidFill>
                <a:latin typeface="Calibri"/>
              </a:rPr>
              <a:t>Hides duplicate lines so stacked indicators stay readable.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3749039"/>
            <a:ext cx="5349240" cy="1554480"/>
          </a:xfrm>
          <a:prstGeom prst="roundRect">
            <a:avLst>
              <a:gd name="adj" fmla="val 7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84264" y="4251959"/>
            <a:ext cx="566928" cy="566928"/>
          </a:xfrm>
          <a:prstGeom prst="ellipse">
            <a:avLst/>
          </a:prstGeom>
          <a:solidFill>
            <a:srgbClr val="1E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4264" y="42336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2DD4BF"/>
                </a:solidFill>
                <a:latin typeface="Calibri"/>
              </a:rPr>
              <a:t>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023359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50" b="1" i="0">
                <a:solidFill>
                  <a:srgbClr val="EAF0FF"/>
                </a:solidFill>
                <a:latin typeface="Cambria"/>
              </a:rPr>
              <a:t>Tagged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517136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7B5"/>
                </a:solidFill>
                <a:latin typeface="Calibri"/>
              </a:rPr>
              <a:t>Every alert is labelled and carries ticker + price.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 i="1">
                <a:solidFill>
                  <a:srgbClr val="8A97B5"/>
                </a:solidFill>
                <a:latin typeface="Calibri"/>
              </a:rPr>
              <a:t>Connectors use TradingView’s “indicator on indicator” sources — it both listens to and publishes signals.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8A97B5"/>
                </a:solidFill>
                <a:latin typeface="Calibri"/>
              </a:rPr>
              <a:t>SWING_PRO</a:t>
            </a:r>
            <a:r>
              <a:rPr sz="950" b="0" i="0">
                <a:solidFill>
                  <a:srgbClr val="8A97B5"/>
                </a:solidFill>
                <a:latin typeface="Calibri"/>
              </a:rPr>
              <a:t>   ·   Adaptive Pine v6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43737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1" i="0">
                <a:solidFill>
                  <a:srgbClr val="8A97B5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F0B90B"/>
                </a:solidFill>
                <a:latin typeface="Calibri"/>
              </a:rPr>
              <a:t>READ THIS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300" b="1" i="0">
                <a:solidFill>
                  <a:srgbClr val="EAF0FF"/>
                </a:solidFill>
                <a:latin typeface="Cambria"/>
              </a:rPr>
              <a:t>Honest risk disclosure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1109960" cy="950976"/>
          </a:xfrm>
          <a:prstGeom prst="roundRect">
            <a:avLst>
              <a:gd name="adj" fmla="val 6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139696"/>
            <a:ext cx="329184" cy="329184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3969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E1525"/>
                </a:solidFill>
                <a:latin typeface="Calibri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75104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EAF0FF"/>
                </a:solidFill>
                <a:latin typeface="Cambria"/>
              </a:rPr>
              <a:t>Not financial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975104"/>
            <a:ext cx="5852160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97B5"/>
                </a:solidFill>
                <a:latin typeface="Calibri"/>
              </a:rPr>
              <a:t>A tool for research and testing — not a recommendation to buy or sell anything.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11109960" cy="950976"/>
          </a:xfrm>
          <a:prstGeom prst="roundRect">
            <a:avLst>
              <a:gd name="adj" fmla="val 6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236976"/>
            <a:ext cx="329184" cy="329184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3697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E1525"/>
                </a:solidFill>
                <a:latin typeface="Calibr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72384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EAF0FF"/>
                </a:solidFill>
                <a:latin typeface="Cambria"/>
              </a:rPr>
              <a:t>Backtests are hypotheses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072384"/>
            <a:ext cx="5852160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97B5"/>
                </a:solidFill>
                <a:latin typeface="Calibri"/>
              </a:rPr>
              <a:t>Historical results are a starting point to falsify, never a promise of future profit.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11109960" cy="950976"/>
          </a:xfrm>
          <a:prstGeom prst="roundRect">
            <a:avLst>
              <a:gd name="adj" fmla="val 6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334256"/>
            <a:ext cx="329184" cy="329184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3425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E1525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69664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EAF0FF"/>
                </a:solidFill>
                <a:latin typeface="Cambria"/>
              </a:rPr>
              <a:t>Curve-fit risk is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169664"/>
            <a:ext cx="5852160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97B5"/>
                </a:solidFill>
                <a:latin typeface="Calibri"/>
              </a:rPr>
              <a:t>~50 inputs can fit noise. Validate out-of-sample and keep settings robust, not “optimal.”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109960" cy="950976"/>
          </a:xfrm>
          <a:prstGeom prst="roundRect">
            <a:avLst>
              <a:gd name="adj" fmla="val 6000"/>
            </a:avLst>
          </a:prstGeom>
          <a:solidFill>
            <a:srgbClr val="18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5431536"/>
            <a:ext cx="329184" cy="329184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3153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E1525"/>
                </a:solidFill>
                <a:latin typeface="Calibri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66944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EAF0FF"/>
                </a:solidFill>
                <a:latin typeface="Cambria"/>
              </a:rPr>
              <a:t>Forward-test before real money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266944"/>
            <a:ext cx="5852160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97B5"/>
                </a:solidFill>
                <a:latin typeface="Calibri"/>
              </a:rPr>
              <a:t>Paper-trade live conditions first. Past performance does not predict future results.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8A97B5"/>
                </a:solidFill>
                <a:latin typeface="Calibri"/>
              </a:rPr>
              <a:t>SWING_PRO</a:t>
            </a:r>
            <a:r>
              <a:rPr sz="950" b="0" i="0">
                <a:solidFill>
                  <a:srgbClr val="8A97B5"/>
                </a:solidFill>
                <a:latin typeface="Calibri"/>
              </a:rPr>
              <a:t>   ·   Adaptive Pine v6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3737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1" i="0">
                <a:solidFill>
                  <a:srgbClr val="8A97B5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716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EAF0FF"/>
                </a:solidFill>
                <a:latin typeface="Cambria"/>
              </a:rPr>
              <a:t>Test it. Don’t trust it blindly.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76809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8A97B5"/>
                </a:solidFill>
                <a:latin typeface="Calibri"/>
              </a:rPr>
              <a:t>SWING_PRO turns a vague “signal” into something you can </a:t>
            </a:r>
            <a:r>
              <a:rPr sz="1700" b="1" i="0">
                <a:solidFill>
                  <a:srgbClr val="2DD4BF"/>
                </a:solidFill>
                <a:latin typeface="Calibri"/>
              </a:rPr>
              <a:t>measure, isolate and falsify</a:t>
            </a:r>
            <a:r>
              <a:rPr sz="1700" b="0" i="0">
                <a:solidFill>
                  <a:srgbClr val="8A97B5"/>
                </a:solidFill>
                <a:latin typeface="Calibri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3922776"/>
            <a:ext cx="274320" cy="2743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392277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0E1525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88620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0" i="0">
                <a:solidFill>
                  <a:srgbClr val="EAF0FF"/>
                </a:solidFill>
                <a:latin typeface="Calibri"/>
              </a:rPr>
              <a:t>Load on TradingView (Pine v6)</a:t>
            </a:r>
          </a:p>
        </p:txBody>
      </p:sp>
      <p:sp>
        <p:nvSpPr>
          <p:cNvPr id="7" name="Oval 6"/>
          <p:cNvSpPr/>
          <p:nvPr/>
        </p:nvSpPr>
        <p:spPr>
          <a:xfrm>
            <a:off x="6236208" y="3922776"/>
            <a:ext cx="274320" cy="2743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2784" y="392277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0E1525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3408" y="388620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0" i="0">
                <a:solidFill>
                  <a:srgbClr val="EAF0FF"/>
                </a:solidFill>
                <a:latin typeface="Calibri"/>
              </a:rPr>
              <a:t>Backtest your symbol &amp; timeframe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581144"/>
            <a:ext cx="274320" cy="2743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58114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0E1525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544568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0" i="0">
                <a:solidFill>
                  <a:srgbClr val="EAF0FF"/>
                </a:solidFill>
                <a:latin typeface="Calibri"/>
              </a:rPr>
              <a:t>A/B the three entry types</a:t>
            </a:r>
          </a:p>
        </p:txBody>
      </p:sp>
      <p:sp>
        <p:nvSpPr>
          <p:cNvPr id="13" name="Oval 12"/>
          <p:cNvSpPr/>
          <p:nvPr/>
        </p:nvSpPr>
        <p:spPr>
          <a:xfrm>
            <a:off x="6236208" y="4581144"/>
            <a:ext cx="274320" cy="2743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458114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0E1525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4544568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0" i="0">
                <a:solidFill>
                  <a:srgbClr val="EAF0FF"/>
                </a:solidFill>
                <a:latin typeface="Calibri"/>
              </a:rPr>
              <a:t>Forward-test on paper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1">
                <a:solidFill>
                  <a:srgbClr val="8A97B5"/>
                </a:solidFill>
                <a:latin typeface="Calibri"/>
              </a:rPr>
              <a:t>Not financial advice · Past performance does not guarantee future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